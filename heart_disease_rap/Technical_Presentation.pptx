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1" d="100"/>
          <a:sy n="141" d="100"/>
        </p:scale>
        <p:origin x="3246" y="4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WENIKE, Stan (NHS ENGLAND)" userId="40d65058-46a1-4874-b1ba-885e9a37a40a" providerId="ADAL" clId="{3ACB0511-6B68-40F3-A05C-46BD4C5D10B4}"/>
    <pc:docChg chg="modSld">
      <pc:chgData name="EWENIKE, Stan (NHS ENGLAND)" userId="40d65058-46a1-4874-b1ba-885e9a37a40a" providerId="ADAL" clId="{3ACB0511-6B68-40F3-A05C-46BD4C5D10B4}" dt="2026-04-20T15:03:35.951" v="6" actId="6549"/>
      <pc:docMkLst>
        <pc:docMk/>
      </pc:docMkLst>
      <pc:sldChg chg="modSp mod">
        <pc:chgData name="EWENIKE, Stan (NHS ENGLAND)" userId="40d65058-46a1-4874-b1ba-885e9a37a40a" providerId="ADAL" clId="{3ACB0511-6B68-40F3-A05C-46BD4C5D10B4}" dt="2026-04-20T15:03:35.951" v="6" actId="6549"/>
        <pc:sldMkLst>
          <pc:docMk/>
          <pc:sldMk cId="0" sldId="256"/>
        </pc:sldMkLst>
        <pc:spChg chg="mod">
          <ac:chgData name="EWENIKE, Stan (NHS ENGLAND)" userId="40d65058-46a1-4874-b1ba-885e9a37a40a" providerId="ADAL" clId="{3ACB0511-6B68-40F3-A05C-46BD4C5D10B4}" dt="2026-04-20T15:03:35.951" v="6" actId="6549"/>
          <ac:spMkLst>
            <pc:docMk/>
            <pc:sldMk cId="0" sldId="256"/>
            <ac:spMk id="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3031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731520" y="219456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Heart Disease from Clinical Indicators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32004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A8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reproducible logistic regression prototype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4023360"/>
            <a:ext cx="1828800" cy="0"/>
          </a:xfrm>
          <a:prstGeom prst="line">
            <a:avLst/>
          </a:prstGeom>
          <a:noFill/>
          <a:ln w="381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731520" y="420624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Stanley Ewenike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classification: does this patient have heart disease?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0"/>
          </a:xfrm>
          <a:prstGeom prst="line">
            <a:avLst/>
          </a:prstGeom>
          <a:noFill/>
          <a:ln w="1905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539496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B"/>
            </a:solidFill>
            <a:prstDash val="solid"/>
          </a:ln>
          <a:effectLst>
            <a:outerShdw blurRad="1016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777240" y="17830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240280"/>
            <a:ext cx="5029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present with chest pain. A predictive model helps triage those likely to have coronary heart disease.</a:t>
            </a:r>
            <a:endParaRPr lang="en-US" sz="13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UCI multi-study dataset (920 patients, 4 source studies, 14 clinical features).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binary indicator derived from num &gt; 0.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41148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4572000"/>
            <a:ext cx="5029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Explore data, flag quality issues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Select features, handle missingness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Build reproducible sklearn pipeline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Evaluate on CV + hold-out test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Interpret + recommend next steps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17830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B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6217920" y="1645920"/>
            <a:ext cx="1783080" cy="109728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6217920" y="192024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920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6217920" y="27889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217920" y="310896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4 studies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092440" y="1645920"/>
            <a:ext cx="17830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B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8092440" y="1645920"/>
            <a:ext cx="1783080" cy="109728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8092440" y="192024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55%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8092440" y="27889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092440" y="310896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prevalence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966960" y="1645920"/>
            <a:ext cx="17830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B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9966960" y="1645920"/>
            <a:ext cx="1783080" cy="109728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9966960" y="192024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9966960" y="27889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966960" y="310896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+ demographic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217920" y="3931920"/>
            <a:ext cx="5623560" cy="2286000"/>
          </a:xfrm>
          <a:prstGeom prst="rect">
            <a:avLst/>
          </a:prstGeom>
          <a:solidFill>
            <a:srgbClr val="0B2240"/>
          </a:solidFill>
          <a:ln/>
          <a:effectLst>
            <a:outerShdw blurRad="101600" dist="127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>
            <a:off x="6217920" y="3931920"/>
            <a:ext cx="109728" cy="2286000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6492240" y="4069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Guiding Principle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92240" y="44348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"Prototype over precision":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6492240" y="493776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ED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end-to-end pipeline with defensible choices, not leaderboard accuracy. Modular RAP-compliant project: every decision traceable, every result reproducible (seed = 42).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Exploration (1 of 2)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Missingness and data quality drive early design choices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0"/>
          </a:xfrm>
          <a:prstGeom prst="line">
            <a:avLst/>
          </a:prstGeom>
          <a:noFill/>
          <a:ln w="1905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5" name="Image 0" descr="/home/claude/nhse_test/outputs/1_missingne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45920"/>
            <a:ext cx="6675120" cy="43891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498080" y="1645920"/>
            <a:ext cx="420624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/>
          <p:nvPr/>
        </p:nvSpPr>
        <p:spPr>
          <a:xfrm>
            <a:off x="7680960" y="17830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680960" y="2240280"/>
            <a:ext cx="39319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ca: 66% missing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number of major vessels by fluoroscopy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thal: 53% missing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thalassemia result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slope: 34% missing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ST segment slope at peak exercise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features &lt;10% missing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issue: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trestbps = 0 and chol = 0 in 172 records — physiologically impossible, recoded as missing.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Exploration (2 of 2)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Source-study heterogeneity is the biggest analytical risk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0"/>
          </a:xfrm>
          <a:prstGeom prst="line">
            <a:avLst/>
          </a:prstGeom>
          <a:noFill/>
          <a:ln w="1905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5" name="Image 0" descr="/home/claude/nhse_test/outputs/2_prevalence_by_stud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45920"/>
            <a:ext cx="6675120" cy="43891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498080" y="1645920"/>
            <a:ext cx="420624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/>
          <p:nvPr/>
        </p:nvSpPr>
        <p:spPr>
          <a:xfrm>
            <a:off x="7680960" y="17830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680960" y="2240280"/>
            <a:ext cx="39319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Prevalence varies 36% to 94% across studies.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Likely reasons: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selection effects (referral pathway)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diagnostic protocol differences</a:t>
            </a:r>
            <a:endParaRPr lang="en-US" sz="13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age/sex case-mix variation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confounding by study site.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ignored, the model may learn 'Switzerland' as a disease proxy rather than true clinical signal.</a:t>
            </a:r>
            <a:endParaRPr lang="en-US" sz="1300" dirty="0"/>
          </a:p>
          <a:p>
            <a:pPr marL="0" indent="0">
              <a:buNone/>
            </a:pPr>
            <a:r>
              <a:rPr lang="en-US" sz="1200" i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mitigation: include dataset as a feature so the model conditions on study site explicitly.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Decisions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choices that define the model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0"/>
          </a:xfrm>
          <a:prstGeom prst="line">
            <a:avLst/>
          </a:prstGeom>
          <a:noFill/>
          <a:ln w="1905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56692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B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109728" cy="237744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822960" y="173736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19456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ca and thal (&gt;50% missing). Keep slope with imputation. Include dataset as feature.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3063240"/>
            <a:ext cx="5303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Imputation above ~50% is unreliable. Dropping 2 features costs less than introducing noise.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55080" y="1645920"/>
            <a:ext cx="56692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B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6355080" y="1645920"/>
            <a:ext cx="109728" cy="237744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6629400" y="173736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data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629400" y="219456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imputation for numeric, mode for categorical, inside a sklearn Pipeline.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629400" y="3063240"/>
            <a:ext cx="5303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Embedded imputation prevents train/test leakage. Median is robust to outliers.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4206240"/>
            <a:ext cx="56692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B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548640" y="4206240"/>
            <a:ext cx="109728" cy="237744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822960" y="429768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choice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2960" y="475488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with L2 regularisation.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" y="5623560"/>
            <a:ext cx="5303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Interpretable coefficients, clinical standard, suits 736 training rows, strong baseline before tree methods.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355080" y="4206240"/>
            <a:ext cx="56692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B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6355080" y="4206240"/>
            <a:ext cx="109728" cy="237744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6629400" y="429768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629400" y="475488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 stratified split + 5-fold CV on train. Metrics: ROC-AUC, recall, precision.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629400" y="5623560"/>
            <a:ext cx="5303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Recall prioritised — false negatives (missed diagnoses) carry more clinical risk than false alarms.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Architecture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RAP-compliant project, single-command reproducible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0"/>
          </a:xfrm>
          <a:prstGeom prst="line">
            <a:avLst/>
          </a:prstGeom>
          <a:noFill/>
          <a:ln w="1905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5303520" cy="4572000"/>
          </a:xfrm>
          <a:prstGeom prst="rect">
            <a:avLst/>
          </a:prstGeom>
          <a:solidFill>
            <a:srgbClr val="1A2332"/>
          </a:solidFill>
          <a:ln/>
          <a:effectLst>
            <a:outerShdw blurRad="1016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777240" y="1783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8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structure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2148840"/>
            <a:ext cx="49377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B7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heart_disease_rap/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config.yaml           </a:t>
            </a:r>
            <a:r>
              <a:rPr lang="en-US" sz="1100" dirty="0">
                <a:solidFill>
                  <a:srgbClr val="8BC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all params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main.py               </a:t>
            </a:r>
            <a:r>
              <a:rPr lang="en-US" sz="1100" dirty="0">
                <a:solidFill>
                  <a:srgbClr val="8BC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orchestrator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requirements.txt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README.md   RAP.md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B7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src/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config.py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data_loader.py      </a:t>
            </a:r>
            <a:r>
              <a:rPr lang="en-US" sz="1100" dirty="0">
                <a:solidFill>
                  <a:srgbClr val="8BC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stage 1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eda.py              </a:t>
            </a:r>
            <a:r>
              <a:rPr lang="en-US" sz="1100" dirty="0">
                <a:solidFill>
                  <a:srgbClr val="8BC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stage 2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preprocess.py       </a:t>
            </a:r>
            <a:r>
              <a:rPr lang="en-US" sz="1100" dirty="0">
                <a:solidFill>
                  <a:srgbClr val="8BC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stage 3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train.py            </a:t>
            </a:r>
            <a:r>
              <a:rPr lang="en-US" sz="1100" dirty="0">
                <a:solidFill>
                  <a:srgbClr val="8BC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stages 4-6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evaluate.py         </a:t>
            </a:r>
            <a:r>
              <a:rPr lang="en-US" sz="1100" dirty="0">
                <a:solidFill>
                  <a:srgbClr val="8BC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stage 7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B7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tests/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test_pipeline.py    </a:t>
            </a:r>
            <a:r>
              <a:rPr lang="en-US" sz="1100" dirty="0">
                <a:solidFill>
                  <a:srgbClr val="8BC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 tests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B7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data/raw/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B7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outputs/              </a:t>
            </a:r>
            <a:r>
              <a:rPr lang="en-US" sz="1100" dirty="0">
                <a:solidFill>
                  <a:srgbClr val="8BC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generated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26480" y="1645920"/>
            <a:ext cx="557784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6355080" y="17830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 principles satisfied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355080" y="2194560"/>
            <a:ext cx="521208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controlled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config.yaml; every run logged with seed and metrics in run_summary.json.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and reusable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single-purpose modules. Preprocessor, data loader, evaluator are independently reusable.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and orchestrated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command: python main.py. No notebook cells, no manual steps.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README, RAP.md, module docstrings, function type hints, structured logging.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pytest cases: DQ, target derivation, preprocessor, end-to-end smoke test.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 and reproducible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proprietary tools. Fixed seed. Identical metrics on every run.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discrimination, recall prioritised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0"/>
          </a:xfrm>
          <a:prstGeom prst="line">
            <a:avLst/>
          </a:prstGeom>
          <a:noFill/>
          <a:ln w="1905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5" name="Image 0" descr="/home/claude/nhse_test/outputs/3_roc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45920"/>
            <a:ext cx="5029200" cy="4572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943600" y="1645920"/>
            <a:ext cx="27432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4"/>
          <p:cNvSpPr/>
          <p:nvPr/>
        </p:nvSpPr>
        <p:spPr>
          <a:xfrm>
            <a:off x="5943600" y="1645920"/>
            <a:ext cx="91440" cy="118872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6172200" y="17373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ROC-AUC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172200" y="19659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0.890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6172200" y="25146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+/- 0.019 over 5 folds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8869680" y="1645920"/>
            <a:ext cx="27432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9"/>
          <p:cNvSpPr/>
          <p:nvPr/>
        </p:nvSpPr>
        <p:spPr>
          <a:xfrm>
            <a:off x="8869680" y="1645920"/>
            <a:ext cx="91440" cy="1188720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0"/>
          <p:cNvSpPr/>
          <p:nvPr/>
        </p:nvSpPr>
        <p:spPr>
          <a:xfrm>
            <a:off x="9098280" y="17373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ROC-AUC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9098280" y="19659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0.918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9098280" y="25146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184 patients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943600" y="3017520"/>
            <a:ext cx="27432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4"/>
          <p:cNvSpPr/>
          <p:nvPr/>
        </p:nvSpPr>
        <p:spPr>
          <a:xfrm>
            <a:off x="5943600" y="3017520"/>
            <a:ext cx="91440" cy="1188720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5"/>
          <p:cNvSpPr/>
          <p:nvPr/>
        </p:nvSpPr>
        <p:spPr>
          <a:xfrm>
            <a:off x="6172200" y="31089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172200" y="33375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0.902</a:t>
            </a:r>
            <a:endParaRPr lang="en-US" sz="3000" dirty="0"/>
          </a:p>
        </p:txBody>
      </p:sp>
      <p:sp>
        <p:nvSpPr>
          <p:cNvPr id="20" name="Text 17"/>
          <p:cNvSpPr/>
          <p:nvPr/>
        </p:nvSpPr>
        <p:spPr>
          <a:xfrm>
            <a:off x="6172200" y="38862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92/102 disease cases caught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8869680" y="3017520"/>
            <a:ext cx="27432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19"/>
          <p:cNvSpPr/>
          <p:nvPr/>
        </p:nvSpPr>
        <p:spPr>
          <a:xfrm>
            <a:off x="8869680" y="3017520"/>
            <a:ext cx="91440" cy="118872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3" name="Text 20"/>
          <p:cNvSpPr/>
          <p:nvPr/>
        </p:nvSpPr>
        <p:spPr>
          <a:xfrm>
            <a:off x="9098280" y="31089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9098280" y="33375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0.829</a:t>
            </a:r>
            <a:endParaRPr lang="en-US" sz="3000" dirty="0"/>
          </a:p>
        </p:txBody>
      </p:sp>
      <p:sp>
        <p:nvSpPr>
          <p:cNvPr id="25" name="Text 22"/>
          <p:cNvSpPr/>
          <p:nvPr/>
        </p:nvSpPr>
        <p:spPr>
          <a:xfrm>
            <a:off x="9098280" y="38862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92/111 flagged truly diseased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5943600" y="4434840"/>
            <a:ext cx="56692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4"/>
          <p:cNvSpPr/>
          <p:nvPr/>
        </p:nvSpPr>
        <p:spPr>
          <a:xfrm>
            <a:off x="6126480" y="452628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(test set, n=184)</a:t>
            </a:r>
            <a:endParaRPr lang="en-US" sz="13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4892040"/>
          <a:ext cx="5394960" cy="118872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Predicted: no disease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Predicted: disease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Actual: no disease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 (TN)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E76F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 (FP)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Actual: disease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(FN)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 (TP)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model's top predictors are clinically plausible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0"/>
          </a:xfrm>
          <a:prstGeom prst="line">
            <a:avLst/>
          </a:prstGeom>
          <a:noFill/>
          <a:ln w="1905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5" name="Image 0" descr="/home/claude/nhse_test/outputs/4_feature_import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45920"/>
            <a:ext cx="6675120" cy="4572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498080" y="1645920"/>
            <a:ext cx="420624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/>
          <p:nvPr/>
        </p:nvSpPr>
        <p:spPr>
          <a:xfrm>
            <a:off x="7680960" y="17830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this make clinical sense?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680960" y="2240280"/>
            <a:ext cx="39319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Clinically consistent: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Male sex: higher risk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Exercise-induced angina: strong positive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Atypical / non-anginal chest pain: protective</a:t>
            </a:r>
            <a:endParaRPr lang="en-US" sz="12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ST depression (oldpeak), age: positive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Flag: dataset_Switzerland dominates</a:t>
            </a:r>
            <a:endParaRPr lang="en-US" sz="12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coefficient (+2.2). Driven by 94% disease prevalence in Swiss subset, not clinical signal.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 rule:</a:t>
            </a:r>
            <a:endParaRPr lang="en-US" sz="1200" dirty="0"/>
          </a:p>
          <a:p>
            <a:pPr marL="0" indent="0">
              <a:buNone/>
            </a:pPr>
            <a:r>
              <a:rPr lang="en-US" sz="1100" i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the clinical-feature coefficients. Treat the dataset coefficients as case-mix adjustment, not as causal drivers.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and Next Steps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take this prototype forward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0"/>
          </a:xfrm>
          <a:prstGeom prst="line">
            <a:avLst/>
          </a:prstGeom>
          <a:noFill/>
          <a:ln w="1905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36576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B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3657600" cy="45720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777240" y="16916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Methodological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286000"/>
            <a:ext cx="32004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tree-based models (RF, gradient boosting) for non-linear signal.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study-stratified analysis to separate clinical from site effect.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analysis + Brier score, not just discrimination.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audit by sex and age group.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34840" y="1645920"/>
            <a:ext cx="36576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B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4434840" y="1645920"/>
            <a:ext cx="3657600" cy="45720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4663440" y="16916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709160" y="2286000"/>
            <a:ext cx="32004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 ca and thal where clinically feasible.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validation on UK NHS patient data.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with outcome data (MI, mortality).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features: medication, family history, comorbidity.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321040" y="1645920"/>
            <a:ext cx="36576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B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8321040" y="1645920"/>
            <a:ext cx="3657600" cy="457200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8549640" y="16916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Operationalisation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595360" y="2286000"/>
            <a:ext cx="32004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pipeline behind an API for clinical tool integration.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MLOps: monitoring, drift detection, retraining schedule.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AQA / model-governance sign-off before any real-world use.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Clinician-facing UI with explainability (SHAP values).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140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reproducible logistic regression prototype delivering 0.92 ROC-AUC on held-out test data.</a:t>
            </a:r>
            <a:endParaRPr lang="en-US" sz="20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20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to be defended, not just deployed.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3474720"/>
            <a:ext cx="10515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CED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pipeline, seed-controlled, runs in one command.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CED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handling of missingness, data errors, and study heterogeneity.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CED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0.90 prioritised — clinically appropriate for screening.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CED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roadmap for methodological, data, and operational next steps.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5943600"/>
            <a:ext cx="1828800" cy="0"/>
          </a:xfrm>
          <a:prstGeom prst="line">
            <a:avLst/>
          </a:prstGeom>
          <a:noFill/>
          <a:ln w="381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731520" y="61264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A8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welcome.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37c354b2-85b0-47f5-b222-07b48d774ee3}" enabled="0" method="" siteId="{37c354b2-85b0-47f5-b222-07b48d774ee3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1056</Words>
  <Application>Microsoft Office PowerPoint</Application>
  <PresentationFormat>Widescreen</PresentationFormat>
  <Paragraphs>166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Heart Disease Predictive Model - NHS England B7 DS Technical Test</dc:title>
  <dc:subject>PptxGenJS Presentation</dc:subject>
  <dc:creator>Stanley Ewenike</dc:creator>
  <cp:lastModifiedBy>EWENIKE, Stan (NHS ENGLAND)</cp:lastModifiedBy>
  <cp:revision>1</cp:revision>
  <dcterms:created xsi:type="dcterms:W3CDTF">2026-04-20T08:39:03Z</dcterms:created>
  <dcterms:modified xsi:type="dcterms:W3CDTF">2026-04-20T15:03:37Z</dcterms:modified>
</cp:coreProperties>
</file>